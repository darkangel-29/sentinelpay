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consolata" pitchFamily="1" charset="0"/>
      <p:regular r:id="rId18"/>
    </p:embeddedFont>
    <p:embeddedFont>
      <p:font typeface="Inconsolata Bold" pitchFamily="1" charset="0"/>
      <p:bold r:id="rId19"/>
    </p:embeddedFont>
    <p:embeddedFont>
      <p:font typeface="Montserrat Black" panose="00000A00000000000000" pitchFamily="2" charset="0"/>
      <p:bold r:id="rId20"/>
    </p:embeddedFont>
    <p:embeddedFont>
      <p:font typeface="Montserrat Light" panose="00000400000000000000" pitchFamily="2" charset="0"/>
      <p:regular r:id="rId21"/>
      <p: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4EB"/>
    <a:srgbClr val="F8ECE4"/>
    <a:srgbClr val="B7662F"/>
    <a:srgbClr val="49291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2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71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1F60BFD-6E5B-CF5B-3D25-2BD4574D179A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hape 0"/>
          <p:cNvSpPr/>
          <p:nvPr/>
        </p:nvSpPr>
        <p:spPr>
          <a:xfrm>
            <a:off x="661475" y="288903"/>
            <a:ext cx="3955455" cy="224334"/>
          </a:xfrm>
          <a:prstGeom prst="roundRect">
            <a:avLst>
              <a:gd name="adj" fmla="val 3397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50075" y="342486"/>
            <a:ext cx="4387839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BEHAVIORAL AI × ADAPTIVE VERIFICATION × DIGITAL BANKING SECURITY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839291"/>
            <a:ext cx="6296860" cy="636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FRAUDSHIELD</a:t>
            </a:r>
            <a:endParaRPr lang="en-US" sz="4000" dirty="0">
              <a:solidFill>
                <a:srgbClr val="00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1649115"/>
            <a:ext cx="6296860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"Proactive protection before the money is gone."</a:t>
            </a:r>
            <a:endParaRPr lang="en-US" sz="2900" dirty="0">
              <a:solidFill>
                <a:srgbClr val="492913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45085"/>
            <a:ext cx="738268" cy="886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15032" y="2892723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</a:t>
            </a:r>
            <a:endParaRPr lang="en-US" sz="1450" dirty="0">
              <a:solidFill>
                <a:srgbClr val="B7662F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631109"/>
            <a:ext cx="738268" cy="886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15032" y="3778746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FRAUD TRANSACTION</a:t>
            </a:r>
            <a:endParaRPr lang="en-US" sz="1450" dirty="0">
              <a:solidFill>
                <a:srgbClr val="B7662F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517132"/>
            <a:ext cx="738268" cy="8860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15032" y="4664770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FRAUDSHIELD</a:t>
            </a:r>
            <a:endParaRPr lang="en-US" sz="1450" dirty="0">
              <a:solidFill>
                <a:srgbClr val="B7662F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403155"/>
            <a:ext cx="738268" cy="8860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15032" y="5550793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PROTECTED</a:t>
            </a:r>
            <a:endParaRPr lang="en-US" sz="1450" dirty="0">
              <a:solidFill>
                <a:srgbClr val="B7662F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F36D72-62F6-AB58-F5C0-92294837B8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1164" y="0"/>
            <a:ext cx="383083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1500"/>
            <a:ext cx="1323446" cy="264616"/>
          </a:xfrm>
          <a:prstGeom prst="roundRect">
            <a:avLst>
              <a:gd name="adj" fmla="val 2880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65950" y="623689"/>
            <a:ext cx="1724081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01 — 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900311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TRANSACTION LOOKS NORMAL. </a:t>
            </a:r>
            <a:r>
              <a:rPr lang="en-US" sz="340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UNTIL IT DOESN'T.</a:t>
            </a:r>
            <a:endParaRPr lang="en-US" sz="3400" dirty="0">
              <a:solidFill>
                <a:srgbClr val="B7662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61475" y="239087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VULNERABLE CUSTOMERS</a:t>
            </a:r>
            <a:endParaRPr lang="en-US" sz="1700" dirty="0">
              <a:solidFill>
                <a:srgbClr val="49291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2823666"/>
            <a:ext cx="5221851" cy="915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Senior citizens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First-time digital banking users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Digitally inexperienced individuals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3883918"/>
            <a:ext cx="5221851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Vulnerability is </a:t>
            </a:r>
            <a:r>
              <a:rPr lang="en-US" sz="13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contextual and behavioral</a:t>
            </a:r>
            <a:r>
              <a:rPr lang="en-US" sz="1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not a personal failing. These users face greater difficulty recognizing social engineering, fake payment requests, suspicious recipients, and unusual transaction patterns.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89309" y="2230239"/>
            <a:ext cx="5472670" cy="4056162"/>
          </a:xfrm>
          <a:prstGeom prst="roundRect">
            <a:avLst>
              <a:gd name="adj" fmla="val 188"/>
            </a:avLst>
          </a:prstGeom>
          <a:solidFill>
            <a:srgbClr val="F2DED0"/>
          </a:solidFill>
          <a:ln/>
        </p:spPr>
      </p:sp>
      <p:sp>
        <p:nvSpPr>
          <p:cNvPr id="9" name="Text 7"/>
          <p:cNvSpPr/>
          <p:nvPr/>
        </p:nvSpPr>
        <p:spPr>
          <a:xfrm>
            <a:off x="6363533" y="2390874"/>
            <a:ext cx="512422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TRANSACTION HISTORY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3533" y="2843709"/>
          <a:ext cx="5124222" cy="1451236"/>
        </p:xfrm>
        <a:graphic>
          <a:graphicData uri="http://schemas.openxmlformats.org/drawingml/2006/table">
            <a:tbl>
              <a:tblPr/>
              <a:tblGrid>
                <a:gridCol w="2562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2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₹1,200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₹3,500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₹5,000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₹8,500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₹12,000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—</a:t>
                      </a:r>
                      <a:endParaRPr lang="en-US" sz="13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63533" y="4531916"/>
            <a:ext cx="5124223" cy="19050"/>
          </a:xfrm>
          <a:prstGeom prst="roundRect">
            <a:avLst>
              <a:gd name="adj" fmla="val 49999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363533" y="4775200"/>
            <a:ext cx="5124223" cy="136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151617"/>
                </a:solidFill>
                <a:highlight>
                  <a:srgbClr val="E5D1C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₹75,000 → NEW RECIPIENT</a:t>
            </a:r>
            <a:endParaRPr lang="en-US" sz="1350" dirty="0"/>
          </a:p>
          <a:p>
            <a:pPr marL="0" indent="0" algn="l">
              <a:lnSpc>
                <a:spcPct val="128000"/>
              </a:lnSpc>
              <a:spcAft>
                <a:spcPts val="1100"/>
              </a:spcAft>
              <a:buNone/>
            </a:pPr>
            <a:r>
              <a:rPr lang="en-US" sz="13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Something is different.</a:t>
            </a:r>
            <a:endParaRPr lang="en-US" sz="13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Fraud prevention should happen </a:t>
            </a:r>
            <a:r>
              <a:rPr lang="en-US" sz="1350" b="1" u="sng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before</a:t>
            </a:r>
            <a:r>
              <a:rPr lang="en-US" sz="13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 money leaves the account.</a:t>
            </a:r>
            <a:endParaRPr lang="en-US" sz="13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5A0E50-318F-8724-CCE9-7D320D0B4C4A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4002"/>
            <a:ext cx="762080" cy="192980"/>
          </a:xfrm>
          <a:prstGeom prst="roundRect">
            <a:avLst>
              <a:gd name="adj" fmla="val 3948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37673" y="622102"/>
            <a:ext cx="1219269" cy="116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02 — THE GAP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11113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DETECTION ALONE IS </a:t>
            </a:r>
            <a:r>
              <a:rPr lang="en-US" sz="24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NOT ENOUGH</a:t>
            </a:r>
            <a:r>
              <a:rPr lang="en-US" sz="245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.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570097" y="1335980"/>
            <a:ext cx="5462252" cy="4938018"/>
          </a:xfrm>
          <a:prstGeom prst="roundRect">
            <a:avLst>
              <a:gd name="adj" fmla="val 154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697093" y="1421309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TRADITIONAL FLOW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7093" y="1715691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7093" y="1912541"/>
            <a:ext cx="520825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697093" y="2014141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7093" y="2393156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97093" y="2590006"/>
            <a:ext cx="520825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697093" y="2691606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093" y="3070622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7093" y="3267472"/>
            <a:ext cx="520825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5" name="Text 13"/>
          <p:cNvSpPr/>
          <p:nvPr/>
        </p:nvSpPr>
        <p:spPr>
          <a:xfrm>
            <a:off x="697093" y="3369072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Alert Sent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7093" y="3748088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7093" y="3944937"/>
            <a:ext cx="520825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697093" y="4046537"/>
            <a:ext cx="520825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BAB6A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Notices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7093" y="4436170"/>
            <a:ext cx="581784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BAB6A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must recognize and act — often after funds are difficult to reverse.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7074" y="1421309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FRAUDSHIELD APPROACH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7074" y="1715691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57074" y="1912541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3" name="Text 21"/>
          <p:cNvSpPr/>
          <p:nvPr/>
        </p:nvSpPr>
        <p:spPr>
          <a:xfrm>
            <a:off x="6257074" y="2014141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7074" y="2393156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7074" y="2590006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6" name="Text 24"/>
          <p:cNvSpPr/>
          <p:nvPr/>
        </p:nvSpPr>
        <p:spPr>
          <a:xfrm>
            <a:off x="6257074" y="2691606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Behavioral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7074" y="3070622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7074" y="3267472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9" name="Text 27"/>
          <p:cNvSpPr/>
          <p:nvPr/>
        </p:nvSpPr>
        <p:spPr>
          <a:xfrm>
            <a:off x="6257074" y="3369072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 Assessment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7074" y="3748088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7074" y="3944937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2" name="Text 30"/>
          <p:cNvSpPr/>
          <p:nvPr/>
        </p:nvSpPr>
        <p:spPr>
          <a:xfrm>
            <a:off x="6257074" y="4046537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Immediate Intervention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57074" y="4425553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57074" y="4622403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5" name="Text 33"/>
          <p:cNvSpPr/>
          <p:nvPr/>
        </p:nvSpPr>
        <p:spPr>
          <a:xfrm>
            <a:off x="6257074" y="4724003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Verification + User Confirmation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57074" y="5103019"/>
            <a:ext cx="25399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57074" y="5299869"/>
            <a:ext cx="527949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38" name="Text 36"/>
          <p:cNvSpPr/>
          <p:nvPr/>
        </p:nvSpPr>
        <p:spPr>
          <a:xfrm>
            <a:off x="6257074" y="5401469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ALLOW / HOLD / BLOCK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57074" y="5791101"/>
            <a:ext cx="5279496" cy="386953"/>
          </a:xfrm>
          <a:prstGeom prst="roundRect">
            <a:avLst>
              <a:gd name="adj" fmla="val 1969"/>
            </a:avLst>
          </a:prstGeom>
          <a:solidFill>
            <a:srgbClr val="E4E6E7"/>
          </a:solidFill>
          <a:ln/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71" y="5917704"/>
            <a:ext cx="158746" cy="1270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669814" y="5899646"/>
            <a:ext cx="534934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Move from passive alerts to proactive intervention.</a:t>
            </a:r>
            <a:endParaRPr lang="en-US" sz="95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C977958-EE61-7060-E33D-08D634980D64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55135" cy="143470"/>
          </a:xfrm>
          <a:prstGeom prst="roundRect">
            <a:avLst>
              <a:gd name="adj" fmla="val 531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25141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03 — THE SOLUTION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MEET </a:t>
            </a:r>
            <a:r>
              <a:rPr lang="en-US" sz="18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FRAUDSHIELD</a:t>
            </a:r>
            <a:endParaRPr lang="en-US" sz="1850" dirty="0">
              <a:solidFill>
                <a:srgbClr val="492913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2144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 intelligent security layer that evaluates every transaction against the customer's normal behavioral pattern — and intervenes when risk is high. 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61475" y="1327090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2279" y="1590741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 — BEHAVIORAL ML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279" y="1782893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Learns normal transaction behavior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19461" y="1327090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20265" y="1590741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— RISK SCORING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0265" y="1782893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Calculates transaction risk likelihood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2173164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2279" y="2306188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 — EXPLAINABLE ALERT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2279" y="2498340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Shows why a transaction was flagged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19461" y="2191820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20265" y="2306188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 — FACE VERIFICATION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20265" y="2498340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Step-up identity check for high-risk transactions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2832625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2279" y="3086943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 — AI VOICE CONFIRMATION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2279" y="3279095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Initiated after 20-second timeout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19461" y="2823296"/>
            <a:ext cx="5410759" cy="956691"/>
          </a:xfrm>
          <a:prstGeom prst="roundRect">
            <a:avLst>
              <a:gd name="adj" fmla="val 1552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1143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20265" y="3058952"/>
            <a:ext cx="5209152" cy="287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06 — DECISION ENGINE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20265" y="3251104"/>
            <a:ext cx="5209152" cy="22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Allows, holds, or blocks based on verification</a:t>
            </a:r>
            <a:endParaRPr lang="en-US" sz="16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164" y="3707195"/>
            <a:ext cx="8196533" cy="30757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29926" y="569728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PROTECT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96053" y="5697281"/>
            <a:ext cx="1586822" cy="4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VERIFY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41981" y="5697281"/>
            <a:ext cx="1796888" cy="738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536306" y="5697281"/>
            <a:ext cx="1884783" cy="738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FRAUDSHIELD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98878" y="5697281"/>
            <a:ext cx="1956355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TRANSACTION</a:t>
            </a:r>
            <a:endParaRPr lang="en-US" sz="16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EFEF18-71EC-2A78-3733-14699082961A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19447" cy="143470"/>
          </a:xfrm>
          <a:prstGeom prst="roundRect">
            <a:avLst>
              <a:gd name="adj" fmla="val 531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515727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04 — END-TO-END WORKFLOW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 TRANSACTION. </a:t>
            </a:r>
            <a:r>
              <a:rPr lang="en-US" sz="185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MULTIPLE LAYERS OF PROTECTION.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658772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system escalates verification only when behavioral risk increases — low-risk transactions proceed with zero added friction.</a:t>
            </a:r>
            <a:endParaRPr lang="en-US" sz="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E328E9-5C98-2C95-408F-7481D04AF44C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B432FD65-ED9E-DE86-333A-1FE883F4D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044" y="3707195"/>
            <a:ext cx="8196533" cy="3075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5F272B-8776-B336-AEBB-78A186031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2944" y="1159683"/>
            <a:ext cx="9325805" cy="5245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2587826-0D46-2B88-77FB-9B023FAB7D23}"/>
              </a:ext>
            </a:extLst>
          </p:cNvPr>
          <p:cNvSpPr/>
          <p:nvPr/>
        </p:nvSpPr>
        <p:spPr>
          <a:xfrm>
            <a:off x="6736080" y="2194560"/>
            <a:ext cx="3434080" cy="457200"/>
          </a:xfrm>
          <a:prstGeom prst="rect">
            <a:avLst/>
          </a:prstGeom>
          <a:solidFill>
            <a:srgbClr val="F6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9438"/>
            <a:ext cx="1412939" cy="255786"/>
          </a:xfrm>
          <a:prstGeom prst="roundRect">
            <a:avLst>
              <a:gd name="adj" fmla="val 2979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629940"/>
            <a:ext cx="1820519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05 — THE ML ENGINE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5152"/>
            <a:ext cx="10868745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MODEL LEARNS WHAT </a:t>
            </a:r>
            <a:r>
              <a:rPr lang="en-US" sz="33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"NORMAL"</a:t>
            </a:r>
            <a:r>
              <a:rPr lang="en-US" sz="3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LOOKS LIKE.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0233" y="2172097"/>
            <a:ext cx="5471480" cy="4106466"/>
          </a:xfrm>
          <a:prstGeom prst="roundRect">
            <a:avLst>
              <a:gd name="adj" fmla="val 186"/>
            </a:avLst>
          </a:prstGeom>
          <a:solidFill>
            <a:srgbClr val="F2DED0"/>
          </a:solidFill>
          <a:ln/>
        </p:spPr>
      </p:sp>
      <p:sp>
        <p:nvSpPr>
          <p:cNvPr id="6" name="Text 4"/>
          <p:cNvSpPr/>
          <p:nvPr/>
        </p:nvSpPr>
        <p:spPr>
          <a:xfrm>
            <a:off x="708503" y="2322016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PROFILE</a:t>
            </a:r>
            <a:endParaRPr lang="en-US" sz="16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503" y="2753717"/>
          <a:ext cx="5134938" cy="2292490"/>
        </p:xfrm>
        <a:graphic>
          <a:graphicData uri="http://schemas.openxmlformats.org/drawingml/2006/table">
            <a:tbl>
              <a:tblPr/>
              <a:tblGrid>
                <a:gridCol w="2567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Typical range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₹500 – ₹15,000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 normal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₹15,000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 tx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₹75,000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Recipient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Behavior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61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UNUSUAL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8344" marR="168344" marT="6350" marB="6350" anchor="ctr">
                    <a:lnL w="12700" cap="flat" cmpd="sng" algn="ctr">
                      <a:solidFill>
                        <a:srgbClr val="F2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8503" y="5269706"/>
            <a:ext cx="5134938" cy="19050"/>
          </a:xfrm>
          <a:prstGeom prst="roundRect">
            <a:avLst>
              <a:gd name="adj" fmla="val 49999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08503" y="5499497"/>
            <a:ext cx="5134938" cy="64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RISK SCORE: 94%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(hypothetical / demo value)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RISK LEVEL: 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7575" y="2322016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INPUT SIGNALS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07575" y="2734965"/>
            <a:ext cx="5228995" cy="2096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Transaction amount vs. historical average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Amount deviation from normal range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New recipient indicator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Transaction frequency and timing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Device familiarity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Location / access anomaly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Previous behavioral patterns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7575" y="4966395"/>
            <a:ext cx="5228995" cy="917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Possible models: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 Regression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Evaluation focus: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F1-score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ROC-AUC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7281FC-F228-8D6E-C230-BAE2DF2FB333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554"/>
            <a:ext cx="2088899" cy="273645"/>
          </a:xfrm>
          <a:prstGeom prst="roundRect">
            <a:avLst>
              <a:gd name="adj" fmla="val 2785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580529"/>
            <a:ext cx="248239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06 — ADAPTIVE VERIFICATION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68859"/>
            <a:ext cx="10868745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THAT ESCALATES </a:t>
            </a:r>
            <a:r>
              <a:rPr lang="en-US" sz="350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ONLY WHEN NEEDED</a:t>
            </a:r>
            <a:r>
              <a:rPr lang="en-US" sz="35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.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2252563"/>
            <a:ext cx="1811391" cy="1026120"/>
          </a:xfrm>
          <a:prstGeom prst="roundRect">
            <a:avLst>
              <a:gd name="adj" fmla="val 7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286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40521" y="2607270"/>
            <a:ext cx="253299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652944" y="2432645"/>
            <a:ext cx="869719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LEVEL 01 — NORMAL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652944" y="2817118"/>
            <a:ext cx="869719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Low risk → No friction → Transaction proceeds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2855" y="3265984"/>
            <a:ext cx="8877376" cy="12700"/>
          </a:xfrm>
          <a:prstGeom prst="roundRect">
            <a:avLst>
              <a:gd name="adj" fmla="val 49999"/>
            </a:avLst>
          </a:prstGeom>
          <a:solidFill>
            <a:srgbClr val="151617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368675"/>
            <a:ext cx="3622882" cy="1026120"/>
          </a:xfrm>
          <a:prstGeom prst="roundRect">
            <a:avLst>
              <a:gd name="adj" fmla="val 7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286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46266" y="3723382"/>
            <a:ext cx="253299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64434" y="3548757"/>
            <a:ext cx="68857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LEVEL 02 — CAUTION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464434" y="3933230"/>
            <a:ext cx="68857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Moderate risk → Warning → User confirmation required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4346" y="4382095"/>
            <a:ext cx="7065885" cy="12700"/>
          </a:xfrm>
          <a:prstGeom prst="roundRect">
            <a:avLst>
              <a:gd name="adj" fmla="val 49999"/>
            </a:avLst>
          </a:prstGeom>
          <a:solidFill>
            <a:srgbClr val="15161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1475" y="4484787"/>
            <a:ext cx="5434373" cy="1307604"/>
          </a:xfrm>
          <a:prstGeom prst="roundRect">
            <a:avLst>
              <a:gd name="adj" fmla="val 58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286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52012" y="4980285"/>
            <a:ext cx="253299" cy="3166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275925" y="466486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LEVEL 03 — HIGH RISK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275925" y="5049341"/>
            <a:ext cx="507421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Face verification → 20-second countdown → AI voice confirmation → Allow / Hold / Block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475" y="6049963"/>
            <a:ext cx="1086874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HIGH-RISK TRANSACTION</a:t>
            </a:r>
            <a:endParaRPr lang="en-US" sz="1750" dirty="0">
              <a:solidFill>
                <a:srgbClr val="B7662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899648-5155-E5B8-C467-4DF0BA396002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2180"/>
            <a:ext cx="1083839" cy="242292"/>
          </a:xfrm>
          <a:prstGeom prst="roundRect">
            <a:avLst>
              <a:gd name="adj" fmla="val 3145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57119" y="660003"/>
            <a:ext cx="1502134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07 — 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0824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LET'S FOLLOW </a:t>
            </a:r>
            <a:r>
              <a:rPr lang="en-US" sz="310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 TRANSACTION</a:t>
            </a:r>
            <a:r>
              <a:rPr lang="en-US" sz="31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086323" y="1608435"/>
            <a:ext cx="19050" cy="4637286"/>
          </a:xfrm>
          <a:prstGeom prst="roundRect">
            <a:avLst>
              <a:gd name="adj" fmla="val 3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57093" y="1778298"/>
            <a:ext cx="478421" cy="19050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7" name="Shape 5"/>
          <p:cNvSpPr/>
          <p:nvPr/>
        </p:nvSpPr>
        <p:spPr>
          <a:xfrm>
            <a:off x="5916464" y="1608435"/>
            <a:ext cx="358766" cy="358775"/>
          </a:xfrm>
          <a:prstGeom prst="roundRect">
            <a:avLst>
              <a:gd name="adj" fmla="val 212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76242" y="1638350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1663204"/>
            <a:ext cx="46369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01 — BASELINE</a:t>
            </a:r>
            <a:endParaRPr lang="en-US" sz="1550" dirty="0">
              <a:solidFill>
                <a:srgbClr val="49291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1993007"/>
            <a:ext cx="4636971" cy="55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₹2,500 → Known recipient</a:t>
            </a:r>
            <a:endParaRPr lang="en-US" sz="1250" dirty="0"/>
          </a:p>
          <a:p>
            <a:pPr marL="0" indent="0" algn="r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Risk: 8% → </a:t>
            </a:r>
            <a:r>
              <a:rPr lang="en-US" sz="12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🟢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ALLOWED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56181" y="2685256"/>
            <a:ext cx="478421" cy="19050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2" name="Shape 10"/>
          <p:cNvSpPr/>
          <p:nvPr/>
        </p:nvSpPr>
        <p:spPr>
          <a:xfrm>
            <a:off x="5916464" y="2515394"/>
            <a:ext cx="358766" cy="358775"/>
          </a:xfrm>
          <a:prstGeom prst="roundRect">
            <a:avLst>
              <a:gd name="adj" fmla="val 212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76242" y="2545308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893249" y="2570163"/>
            <a:ext cx="46369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02 — ANOMALY</a:t>
            </a:r>
            <a:endParaRPr lang="en-US" sz="1550" dirty="0">
              <a:solidFill>
                <a:srgbClr val="49291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93249" y="2899966"/>
            <a:ext cx="4636971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₹75,000 → NEW RECIPIENT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Amount far above normal · New recipient · Unusual behavior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🚨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HIGH RISK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57093" y="3485059"/>
            <a:ext cx="478421" cy="19050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16464" y="3315196"/>
            <a:ext cx="358766" cy="358775"/>
          </a:xfrm>
          <a:prstGeom prst="roundRect">
            <a:avLst>
              <a:gd name="adj" fmla="val 212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76242" y="3345111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61475" y="3369965"/>
            <a:ext cx="46369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03 — FACE CHECK</a:t>
            </a:r>
            <a:endParaRPr lang="en-US" sz="1550" dirty="0">
              <a:solidFill>
                <a:srgbClr val="49291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1475" y="3699768"/>
            <a:ext cx="4636971" cy="87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System requests face verification.</a:t>
            </a:r>
            <a:endParaRPr lang="en-US" sz="1250" dirty="0"/>
          </a:p>
          <a:p>
            <a:pPr marL="0" indent="0" algn="r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 does not complete it.</a:t>
            </a:r>
            <a:endParaRPr lang="en-US" sz="1250" dirty="0"/>
          </a:p>
          <a:p>
            <a:pPr marL="0" indent="0" algn="r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 → 10 → 5 → 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56181" y="4284960"/>
            <a:ext cx="478421" cy="19050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22" name="Shape 20"/>
          <p:cNvSpPr/>
          <p:nvPr/>
        </p:nvSpPr>
        <p:spPr>
          <a:xfrm>
            <a:off x="5916464" y="4115098"/>
            <a:ext cx="358766" cy="358775"/>
          </a:xfrm>
          <a:prstGeom prst="roundRect">
            <a:avLst>
              <a:gd name="adj" fmla="val 212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76242" y="4145012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893249" y="4169866"/>
            <a:ext cx="46369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04 — VOICE CALL</a:t>
            </a:r>
            <a:endParaRPr lang="en-US" sz="1550" dirty="0">
              <a:solidFill>
                <a:srgbClr val="49291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93249" y="4499670"/>
            <a:ext cx="4636971" cy="550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AI: </a:t>
            </a:r>
            <a:r>
              <a:rPr lang="en-US" sz="125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"Did you authorize the ₹75,000 transaction?"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USER: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"No."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57093" y="5084862"/>
            <a:ext cx="478421" cy="19050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27" name="Shape 25"/>
          <p:cNvSpPr/>
          <p:nvPr/>
        </p:nvSpPr>
        <p:spPr>
          <a:xfrm>
            <a:off x="5916464" y="4914999"/>
            <a:ext cx="358766" cy="358775"/>
          </a:xfrm>
          <a:prstGeom prst="roundRect">
            <a:avLst>
              <a:gd name="adj" fmla="val 2124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76242" y="4944914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61475" y="4969768"/>
            <a:ext cx="46369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50" dirty="0">
                <a:solidFill>
                  <a:srgbClr val="49291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05 — DECISION</a:t>
            </a:r>
            <a:endParaRPr lang="en-US" sz="1550" dirty="0">
              <a:solidFill>
                <a:srgbClr val="49291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1475" y="5299571"/>
            <a:ext cx="463697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🔴</a:t>
            </a: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TRANSACTION BLOCKED</a:t>
            </a:r>
            <a:endParaRPr lang="en-US" sz="12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D6FB5B-E43C-F1AC-506D-8BBB99D0E7C2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9967"/>
            <a:ext cx="1690248" cy="237827"/>
          </a:xfrm>
          <a:prstGeom prst="roundRect">
            <a:avLst>
              <a:gd name="adj" fmla="val 320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55333" y="736898"/>
            <a:ext cx="2112116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08 — TECHNOLOGY + IMPACT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79587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UNDER THE </a:t>
            </a:r>
            <a:r>
              <a:rPr lang="en-US" sz="305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HOOD</a:t>
            </a:r>
            <a:r>
              <a:rPr lang="en-US" sz="305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.</a:t>
            </a:r>
            <a:endParaRPr lang="en-US" sz="3050" dirty="0"/>
          </a:p>
        </p:txBody>
      </p:sp>
      <p:sp>
        <p:nvSpPr>
          <p:cNvPr id="5" name="Shape 3"/>
          <p:cNvSpPr/>
          <p:nvPr/>
        </p:nvSpPr>
        <p:spPr>
          <a:xfrm>
            <a:off x="548765" y="1663105"/>
            <a:ext cx="5468900" cy="4504928"/>
          </a:xfrm>
          <a:prstGeom prst="roundRect">
            <a:avLst>
              <a:gd name="adj" fmla="val 169"/>
            </a:avLst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705229" y="1792684"/>
            <a:ext cx="515597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5229" y="2166838"/>
            <a:ext cx="5155972" cy="1638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HTML + CSS + JS + GSAP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Python + FastAPI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ML: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scikit-learn / XGBoost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MongoDB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Face Verification: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OpenCV + face embedding model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Voice: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Speech-to-text / Text-to-speech / TWILIO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5229" y="3989884"/>
            <a:ext cx="5155972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5229" y="4193778"/>
            <a:ext cx="515597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MAKES IT DIFFERENT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5229" y="4567932"/>
            <a:ext cx="5155972" cy="1554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Behavioral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Personalized to each user's normal activity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Proactive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Intervenes before transaction completion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Explainable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Shows why a transaction was flagged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Adaptive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Adds friction only when risk increases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Human-in-the-Loop</a:t>
            </a:r>
            <a:r>
              <a:rPr lang="en-US" sz="1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User confirmation drives the final decision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3089" y="1792684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IMPACT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89" y="2183011"/>
            <a:ext cx="2556902" cy="16407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44801" y="2358529"/>
            <a:ext cx="212967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 Customers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44801" y="2732683"/>
            <a:ext cx="2129677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Reduce risky transfers · Improve protection for inexperienced users · Make warnings understandable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9568" y="2183011"/>
            <a:ext cx="2557002" cy="16407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31280" y="2358529"/>
            <a:ext cx="2129776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 Banks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231280" y="2732683"/>
            <a:ext cx="2129776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adaptive security · Reduce unnecessary friction · Enable earlier intervention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293089" y="3969544"/>
            <a:ext cx="5243481" cy="769144"/>
          </a:xfrm>
          <a:prstGeom prst="roundRect">
            <a:avLst>
              <a:gd name="adj" fmla="val 991"/>
            </a:avLst>
          </a:prstGeom>
          <a:solidFill>
            <a:srgbClr val="E4E6E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553" y="4166394"/>
            <a:ext cx="195654" cy="1564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01672" y="4125218"/>
            <a:ext cx="45784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 every unusual transaction is fraud. Not every user needs the same level of security.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E9AD2E-31E0-173A-0A3A-B9C7824A7D44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8559"/>
            <a:ext cx="1614745" cy="255786"/>
          </a:xfrm>
          <a:prstGeom prst="roundRect">
            <a:avLst>
              <a:gd name="adj" fmla="val 2979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762477" y="589062"/>
            <a:ext cx="2022325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09 — FUTURE + CLOSING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5427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DETECT. EXPLAIN. VERIFY. </a:t>
            </a:r>
            <a:r>
              <a:rPr lang="en-US" sz="330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PROTECT</a:t>
            </a:r>
            <a:r>
              <a:rPr lang="en-US" sz="3300" dirty="0">
                <a:solidFill>
                  <a:srgbClr val="F2DED0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755080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NEXT STEPS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168029"/>
            <a:ext cx="5228995" cy="2710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banking integration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Continuous behavioral learning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Scam / social-engineering pattern detection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Multilingual voice verification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Liveness detection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Accessibility-first voice interaction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Privacy-preserving / federated learning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Human fraud analyst escalation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Trusted-contact escalation with explicit consent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6333" y="1605161"/>
            <a:ext cx="5471480" cy="3325713"/>
          </a:xfrm>
          <a:prstGeom prst="roundRect">
            <a:avLst>
              <a:gd name="adj" fmla="val 229"/>
            </a:avLst>
          </a:prstGeom>
          <a:solidFill>
            <a:srgbClr val="F2DED0"/>
          </a:solidFill>
          <a:ln/>
        </p:spPr>
      </p:sp>
      <p:sp>
        <p:nvSpPr>
          <p:cNvPr id="8" name="Text 6"/>
          <p:cNvSpPr/>
          <p:nvPr/>
        </p:nvSpPr>
        <p:spPr>
          <a:xfrm>
            <a:off x="6354604" y="1755080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PRODUCT PHILOSOPHY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54604" y="2228850"/>
            <a:ext cx="5134938" cy="19050"/>
          </a:xfrm>
          <a:prstGeom prst="roundRect">
            <a:avLst>
              <a:gd name="adj" fmla="val 49999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07109" y="2593578"/>
            <a:ext cx="4882433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"Fraud prevention shouldn't begin after the money is gone."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4604" y="2458641"/>
            <a:ext cx="19050" cy="779066"/>
          </a:xfrm>
          <a:prstGeom prst="roundRect">
            <a:avLst>
              <a:gd name="adj" fmla="val 49999"/>
            </a:avLst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4604" y="3406378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AI FRAUDSHIELD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54604" y="3819327"/>
            <a:ext cx="5134938" cy="650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00"/>
              </a:lnSpc>
              <a:spcAft>
                <a:spcPts val="1050"/>
              </a:spcAft>
              <a:buNone/>
            </a:pPr>
            <a:r>
              <a:rPr lang="en-US" sz="1300" i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"Proactive protection before the money is gone."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highlight>
                  <a:srgbClr val="E5D1C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TEAM: [Lone Wolf]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r>
              <a:rPr lang="en-US" sz="1300" dirty="0">
                <a:solidFill>
                  <a:srgbClr val="151617"/>
                </a:solidFill>
                <a:highlight>
                  <a:srgbClr val="E5D1C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MEMBER: [Dinesh D]</a:t>
            </a: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5099546"/>
            <a:ext cx="10868745" cy="1219795"/>
          </a:xfrm>
          <a:prstGeom prst="roundRect">
            <a:avLst>
              <a:gd name="adj" fmla="val 625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blurRad="127" dist="2159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825" y="5105896"/>
            <a:ext cx="2713962" cy="1207095"/>
          </a:xfrm>
          <a:custGeom>
            <a:avLst/>
            <a:gdLst/>
            <a:ahLst/>
            <a:cxnLst/>
            <a:rect l="l" t="t" r="r" b="b"/>
            <a:pathLst>
              <a:path w="2713962" h="1207095">
                <a:moveTo>
                  <a:pt x="6350" y="0"/>
                </a:moveTo>
                <a:lnTo>
                  <a:pt x="2713962" y="0"/>
                </a:lnTo>
                <a:lnTo>
                  <a:pt x="2713962" y="1207095"/>
                </a:lnTo>
                <a:lnTo>
                  <a:pt x="6350" y="1207095"/>
                </a:lnTo>
                <a:arcTo wR="6350" hR="6350" stAng="5400000" swAng="5400000"/>
                <a:lnTo>
                  <a:pt x="0" y="6350"/>
                </a:lnTo>
                <a:arcTo wR="6350" hR="6350" stAng="10800000" swAng="5400000"/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095" y="5274171"/>
            <a:ext cx="2377420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NORMAL TRANSACTION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36095" y="5890121"/>
            <a:ext cx="237742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Frictionless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1786" y="5105896"/>
            <a:ext cx="2714061" cy="1207095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1786" y="5105896"/>
            <a:ext cx="19050" cy="1207095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20" name="Text 18"/>
          <p:cNvSpPr/>
          <p:nvPr/>
        </p:nvSpPr>
        <p:spPr>
          <a:xfrm>
            <a:off x="3550057" y="5274171"/>
            <a:ext cx="2377519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SUSPICIOUS TRANSACTION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550057" y="5890121"/>
            <a:ext cx="237751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95848" y="5105896"/>
            <a:ext cx="2713962" cy="1207095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5105896"/>
            <a:ext cx="19050" cy="1207095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4118" y="5274171"/>
            <a:ext cx="2377420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HIGH-RISK TRANSACTION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264118" y="5890121"/>
            <a:ext cx="237742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Verify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09809" y="5105896"/>
            <a:ext cx="2714061" cy="1207095"/>
          </a:xfrm>
          <a:custGeom>
            <a:avLst/>
            <a:gdLst/>
            <a:ahLst/>
            <a:cxnLst/>
            <a:rect l="l" t="t" r="r" b="b"/>
            <a:pathLst>
              <a:path w="2714061" h="1207095">
                <a:moveTo>
                  <a:pt x="0" y="0"/>
                </a:moveTo>
                <a:lnTo>
                  <a:pt x="2707711" y="0"/>
                </a:lnTo>
                <a:arcTo wR="6350" hR="6350" stAng="16200000" swAng="5400000"/>
                <a:lnTo>
                  <a:pt x="2714061" y="1200745"/>
                </a:lnTo>
                <a:arcTo wR="6350" hR="6350" stAng="0" swAng="5400000"/>
                <a:lnTo>
                  <a:pt x="0" y="1207095"/>
                </a:lnTo>
                <a:lnTo>
                  <a:pt x="0" y="0"/>
                </a:lnTo>
                <a:close/>
              </a:path>
            </a:pathLst>
          </a:custGeom>
          <a:solidFill>
            <a:srgbClr val="F8ECE4"/>
          </a:solidFill>
          <a:ln/>
        </p:spPr>
      </p:sp>
      <p:sp>
        <p:nvSpPr>
          <p:cNvPr id="27" name="Shape 25"/>
          <p:cNvSpPr/>
          <p:nvPr/>
        </p:nvSpPr>
        <p:spPr>
          <a:xfrm>
            <a:off x="8809809" y="5105896"/>
            <a:ext cx="19050" cy="1207095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28" name="Text 26"/>
          <p:cNvSpPr/>
          <p:nvPr/>
        </p:nvSpPr>
        <p:spPr>
          <a:xfrm>
            <a:off x="8978080" y="5274171"/>
            <a:ext cx="2377519" cy="52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UNAUTHORIZED TRANSACTION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978080" y="5890121"/>
            <a:ext cx="237751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Protect</a:t>
            </a:r>
            <a:endParaRPr lang="en-US" sz="13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59673B-D24B-339B-2956-307AEB7E8DD2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0B74D837-9B27-23E7-B23A-8F3C5A4A83C4}"/>
              </a:ext>
            </a:extLst>
          </p:cNvPr>
          <p:cNvSpPr/>
          <p:nvPr/>
        </p:nvSpPr>
        <p:spPr>
          <a:xfrm>
            <a:off x="782770" y="87293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8800" dirty="0">
                <a:solidFill>
                  <a:srgbClr val="B7662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</a:t>
            </a:r>
            <a:endParaRPr lang="en-US" sz="8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DE840-6504-18DE-F81F-79D6881F600C}"/>
              </a:ext>
            </a:extLst>
          </p:cNvPr>
          <p:cNvSpPr/>
          <p:nvPr/>
        </p:nvSpPr>
        <p:spPr>
          <a:xfrm>
            <a:off x="11056776" y="6531427"/>
            <a:ext cx="1082351" cy="289249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Shape 21">
            <a:extLst>
              <a:ext uri="{FF2B5EF4-FFF2-40B4-BE49-F238E27FC236}">
                <a16:creationId xmlns:a16="http://schemas.microsoft.com/office/drawing/2014/main" id="{4D550E1A-0568-EC8D-59B6-60B7C7CE4ADC}"/>
              </a:ext>
            </a:extLst>
          </p:cNvPr>
          <p:cNvSpPr/>
          <p:nvPr/>
        </p:nvSpPr>
        <p:spPr>
          <a:xfrm>
            <a:off x="514438" y="996998"/>
            <a:ext cx="59788" cy="2352290"/>
          </a:xfrm>
          <a:prstGeom prst="roundRect">
            <a:avLst>
              <a:gd name="adj" fmla="val 39999"/>
            </a:avLst>
          </a:prstGeom>
          <a:solidFill>
            <a:srgbClr val="2E2F30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648B60F-74A9-5A99-DF33-66A03B5EDC2E}"/>
              </a:ext>
            </a:extLst>
          </p:cNvPr>
          <p:cNvSpPr/>
          <p:nvPr/>
        </p:nvSpPr>
        <p:spPr>
          <a:xfrm>
            <a:off x="6217142" y="5790388"/>
            <a:ext cx="5832618" cy="389354"/>
          </a:xfrm>
          <a:prstGeom prst="roundRect">
            <a:avLst>
              <a:gd name="adj" fmla="val 229"/>
            </a:avLst>
          </a:prstGeom>
          <a:solidFill>
            <a:srgbClr val="F2DED0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C1C643-A161-DDE3-4E2B-9BE8FA376691}"/>
              </a:ext>
            </a:extLst>
          </p:cNvPr>
          <p:cNvSpPr txBox="1"/>
          <p:nvPr/>
        </p:nvSpPr>
        <p:spPr>
          <a:xfrm>
            <a:off x="6237462" y="5790388"/>
            <a:ext cx="5832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lnSpc>
                <a:spcPct val="100000"/>
              </a:lnSpc>
              <a:buNone/>
            </a:pP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Inconsolata" pitchFamily="1" charset="0"/>
                <a:cs typeface="Inconsolata" pitchFamily="1" charset="0"/>
              </a:rPr>
              <a:t>Let’s save vulnerable customer from </a:t>
            </a:r>
            <a:r>
              <a:rPr lang="en-US" dirty="0">
                <a:ea typeface="Inconsolata" pitchFamily="1" charset="0"/>
                <a:cs typeface="Inconsolata" pitchFamily="1" charset="0"/>
              </a:rPr>
              <a:t>F</a:t>
            </a:r>
            <a:r>
              <a:rPr lang="en-US" sz="1800" kern="1200" dirty="0">
                <a:solidFill>
                  <a:schemeClr val="tx1"/>
                </a:solidFill>
                <a:effectLst/>
                <a:latin typeface="+mn-lt"/>
                <a:ea typeface="Inconsolata" pitchFamily="1" charset="0"/>
                <a:cs typeface="Inconsolata" pitchFamily="1" charset="0"/>
              </a:rPr>
              <a:t>raudulent transactions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85281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822</Words>
  <Application>Microsoft Office PowerPoint</Application>
  <PresentationFormat>Widescreen</PresentationFormat>
  <Paragraphs>192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Montserrat Black</vt:lpstr>
      <vt:lpstr>Arial</vt:lpstr>
      <vt:lpstr>Inconsolata</vt:lpstr>
      <vt:lpstr>Calibri</vt:lpstr>
      <vt:lpstr>Inconsolata Bold</vt:lpstr>
      <vt:lpstr>Consolas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Dinesh D</cp:lastModifiedBy>
  <cp:revision>3</cp:revision>
  <dcterms:created xsi:type="dcterms:W3CDTF">2026-09-03T13:00:56Z</dcterms:created>
  <dcterms:modified xsi:type="dcterms:W3CDTF">2026-09-03T15:07:57Z</dcterms:modified>
</cp:coreProperties>
</file>